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10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3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102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406E6-2A7C-EDC6-8517-2B8BD165F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704916-31B1-7BA3-25C5-D944AC3DBC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4A3877-9AC6-4E0F-0F08-ADC52CEA26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C7C852-8FCE-831C-7433-6FE65F1AE4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5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463EC-9169-359B-068D-E7AA27CBE7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43E27D-51EE-A118-B5E0-977C5A2EA0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E6BB75-E57C-67A6-9103-55AD5C3B2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20B77-7C94-814A-BFF2-22A527B187CE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8E8B1-329B-ED70-DAA5-74A21023F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879BB-5295-87AD-CBAA-3368F800A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01971-738B-2748-BE0E-81B8CCA8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25858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CB087-C45D-5173-BB06-E07858915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9BBA8-F427-518B-35D4-646C0D24B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B4090-6F8F-CC0F-09E9-5476D9441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20B77-7C94-814A-BFF2-22A527B187CE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9387E-AA67-A329-673C-541331A2B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3F5B5-048A-CD3D-E0FC-854867493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01971-738B-2748-BE0E-81B8CCA8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32262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53D50-B49C-1310-86AB-491AF8D6C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85BA88-C107-ED57-2C7F-BB3F8DE53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306B6-0D63-8502-B9B1-B22827739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20B77-7C94-814A-BFF2-22A527B187CE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28A09-5D8B-9CA6-D440-61ACE40ED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7E81B-DEF9-927A-22E6-579164C15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01971-738B-2748-BE0E-81B8CCA8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30054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70615-C830-C5D1-36F8-535C1C5C0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BDCF4-539E-AFF1-FD0C-2E7D279D8E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F2D21F-8B9D-4AAF-966D-64B12BFDC5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6D9930-3BE0-8B53-AACC-A7B2E32EF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20B77-7C94-814A-BFF2-22A527B187CE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3E96A3-799E-0B30-5A9B-6AB9AAB3D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0BD7BA-2874-7A07-D45A-EDC59F478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01971-738B-2748-BE0E-81B8CCA8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58494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471AE-DF49-6BD0-8CA7-5D9F996A3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4FFE72-1FED-6B1C-8637-A61059738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F520B4-AC74-1C5E-F456-25ECC934C8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59388D-4BB6-67B8-1201-2EB03B5167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EA6A8C-D305-1307-B53B-D923C55AD7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BB9D02-27A9-8730-00A1-CB7676F8D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20B77-7C94-814A-BFF2-22A527B187CE}" type="datetimeFigureOut">
              <a:rPr lang="en-US" smtClean="0"/>
              <a:t>11/9/25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30A5DC-B6B7-FEF7-425A-1A9C6DDFF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D9FF8B-F79C-426C-5E64-F79CEA96D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01971-738B-2748-BE0E-81B8CCA8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43142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2F879-36D2-009C-E23B-0F7597FD7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A9D663-0E5C-9AB3-6743-BEC3D2D5E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20B77-7C94-814A-BFF2-22A527B187CE}" type="datetimeFigureOut">
              <a:rPr lang="en-US" smtClean="0"/>
              <a:t>11/9/25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F8F86F-FF86-D659-4B65-1741D9AD4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F05AA2-8B3C-A410-D76C-8D08D9097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01971-738B-2748-BE0E-81B8CCA8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55256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46A8EA-D795-47F8-0C67-EF3997953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20B77-7C94-814A-BFF2-22A527B187CE}" type="datetimeFigureOut">
              <a:rPr lang="en-US" smtClean="0"/>
              <a:t>11/9/25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F436BF-A067-0401-2617-278DD733E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AE8CB-60BC-BAFE-BAE0-B9C76F637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01971-738B-2748-BE0E-81B8CCA8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22139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16C2C-8DD4-9D1C-8764-A828EF029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6E8B5-C735-65CB-49D5-B0E99F8859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47DC1-C9E5-D671-2F67-02DB7FF844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FAFC15-F4C0-BA1F-1E70-FF5E9A98E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20B77-7C94-814A-BFF2-22A527B187CE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13005C-2DFC-C745-4B15-F04AB72DD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DA47B7-6239-D369-A51E-F2682B0C0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01971-738B-2748-BE0E-81B8CCA8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54334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B10DF-32D8-5A28-F46C-3771DA0D3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0019EA-B8BC-8EBA-23C2-D0BEA933D5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4F13-7709-F72E-F3D9-F4F57CD85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8DEB6F-3D4B-3723-AF74-959B07F87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20B77-7C94-814A-BFF2-22A527B187CE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5A1B8-50E1-2A52-7F5B-646B855E3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EF28AC-11E1-0E2A-1133-E23CCB67B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01971-738B-2748-BE0E-81B8CCA8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54894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C4979-E01C-5961-26E1-F713D015D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AD1915-9F32-C53E-8819-DAE2F2E169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D3C3E-EFF2-AA13-5A50-BD7A07BEE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20B77-7C94-814A-BFF2-22A527B187CE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FD754-A673-C5F6-63C8-6D6919E72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367A1-B64F-B989-01E8-AB2EDD724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01971-738B-2748-BE0E-81B8CCA8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58972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D4BB54-6BF9-C537-E61A-2BEB6E9781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CE2418-C57E-2A2A-6A6E-960172EC3B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1F94F-A071-ABA2-522C-3D680EE5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20B77-7C94-814A-BFF2-22A527B187CE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6832F-0B4D-32BD-8B6A-4659951FF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0D457-5E11-BF84-01A8-706B9FFEF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01971-738B-2748-BE0E-81B8CCA8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69585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4218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11B755-9C61-F778-E31D-B36FBFFE3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7E232-B51C-BC96-FCB9-519814BA1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2EF26-28D7-C0AF-B1D6-FFB2E4028F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920B77-7C94-814A-BFF2-22A527B187CE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BCF7B-55DE-2CAF-41CE-BE40A4B469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EB213-212A-84CD-2D4C-6FAD85EA0E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701971-738B-2748-BE0E-81B8CCA8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263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bb830b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1276350"/>
            <a:ext cx="3810000" cy="7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8219" y="1885950"/>
            <a:ext cx="63475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AMW Web App Development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2197016" y="2724150"/>
            <a:ext cx="474996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Aft>
                <a:spcPts val="2400"/>
              </a:spcAft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Elevating Storytelling Through Technology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415704" y="3600450"/>
            <a:ext cx="23125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Moment With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107" y="631794"/>
            <a:ext cx="46731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2080320"/>
            <a:ext cx="540639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A Moment With mobile app capabilities to a powerful web platform, enabling users to create, organize, and manage stories with enhanced flexibility and efficiency.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80998" y="3207990"/>
            <a:ext cx="5406391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web app addresses key limitations in story creation by supporting external media sources, providing comprehensive organization tools, and offering real-time synchronization with mobile devices.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134100" y="2019300"/>
            <a:ext cx="2857500" cy="1981200"/>
          </a:xfrm>
          <a:prstGeom prst="roundRect">
            <a:avLst>
              <a:gd name="adj" fmla="val 3846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62700" y="2247900"/>
            <a:ext cx="24483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62700" y="2590800"/>
            <a:ext cx="2400300" cy="11811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story creation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media support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syncing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organization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3300" y="516385"/>
            <a:ext cx="46731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&amp; Motivation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52400" y="1638300"/>
            <a:ext cx="8839200" cy="1066800"/>
          </a:xfrm>
          <a:prstGeom prst="roundRect">
            <a:avLst>
              <a:gd name="adj" fmla="val 714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171450" y="1638300"/>
            <a:ext cx="0" cy="106680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9100" y="1866900"/>
            <a:ext cx="85107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Challenge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9100" y="2209800"/>
            <a:ext cx="85107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Mobile-only platform limits content creation speed and media source flexibility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2400" y="3162300"/>
            <a:ext cx="4191000" cy="1219200"/>
          </a:xfrm>
          <a:prstGeom prst="roundRect">
            <a:avLst>
              <a:gd name="adj" fmla="val 625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71450" y="3162300"/>
            <a:ext cx="0" cy="121920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9100" y="3390900"/>
            <a:ext cx="37696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Demand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9100" y="3733800"/>
            <a:ext cx="376961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for deeper control over story organization and richer storytelling capabilities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00600" y="3162300"/>
            <a:ext cx="4191000" cy="1219200"/>
          </a:xfrm>
          <a:prstGeom prst="roundRect">
            <a:avLst>
              <a:gd name="adj" fmla="val 625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819650" y="3162300"/>
            <a:ext cx="0" cy="121920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67300" y="3390900"/>
            <a:ext cx="37696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67300" y="3733800"/>
            <a:ext cx="376961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platform enabling external media, streamlined workflows, and comprehensive management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1075678"/>
            <a:ext cx="46731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04800" y="2286000"/>
            <a:ext cx="8534400" cy="14478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Story Creation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Intuitive web interface for building stories, chapters, and moments with enhanced flexibility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Syncing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Real-time synchronization between web and mobile apps for seamless access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Media Integration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Support for uploads from hard drives, USB, and cloud storage platforms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Management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Dashboard for organizing, tagging, and managing all storytelling content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090" y="743992"/>
            <a:ext cx="46731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719090" y="1753642"/>
            <a:ext cx="84492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36978" y="2096542"/>
            <a:ext cx="8231406" cy="29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</a:p>
          <a:p>
            <a:pPr marL="171450" indent="-171450" algn="l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1" dirty="0">
                <a:latin typeface="Arial" pitchFamily="34" charset="0"/>
                <a:cs typeface="Arial" pitchFamily="34" charset="-120"/>
              </a:rPr>
              <a:t>React Router Dom</a:t>
            </a:r>
          </a:p>
          <a:p>
            <a:pPr marL="171450" indent="-171450" algn="l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1" dirty="0">
                <a:latin typeface="Arial" pitchFamily="34" charset="0"/>
                <a:cs typeface="Arial" pitchFamily="34" charset="-120"/>
              </a:rPr>
              <a:t>Vite</a:t>
            </a:r>
          </a:p>
          <a:p>
            <a:pPr marL="171450" indent="-171450" algn="l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1" dirty="0">
                <a:latin typeface="Arial" pitchFamily="34" charset="0"/>
                <a:cs typeface="Arial" pitchFamily="34" charset="-120"/>
              </a:rPr>
              <a:t>Tailwind CSS</a:t>
            </a:r>
          </a:p>
          <a:p>
            <a:pPr marL="171450" indent="-171450" algn="l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1" dirty="0">
                <a:latin typeface="Arial" pitchFamily="34" charset="0"/>
                <a:cs typeface="Arial" pitchFamily="34" charset="-120"/>
              </a:rPr>
              <a:t>Amplify UI React</a:t>
            </a:r>
          </a:p>
          <a:p>
            <a:pPr marL="171450" indent="-171450" algn="l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1" dirty="0">
                <a:latin typeface="Arial" pitchFamily="34" charset="0"/>
                <a:cs typeface="Arial" pitchFamily="34" charset="-120"/>
              </a:rPr>
              <a:t>Lucid React</a:t>
            </a:r>
          </a:p>
          <a:p>
            <a:pPr marL="171450" indent="-171450" algn="l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1" dirty="0">
                <a:latin typeface="Arial" pitchFamily="34" charset="0"/>
                <a:cs typeface="Arial" pitchFamily="34" charset="-120"/>
              </a:rPr>
              <a:t>Service worker</a:t>
            </a:r>
          </a:p>
          <a:p>
            <a:pPr marL="171450" indent="-171450" algn="l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1" dirty="0">
                <a:latin typeface="Arial" pitchFamily="34" charset="0"/>
                <a:cs typeface="Arial" pitchFamily="34" charset="-120"/>
              </a:rPr>
              <a:t>Web worker</a:t>
            </a:r>
          </a:p>
        </p:txBody>
      </p:sp>
      <p:sp>
        <p:nvSpPr>
          <p:cNvPr id="5" name="Text 3"/>
          <p:cNvSpPr/>
          <p:nvPr/>
        </p:nvSpPr>
        <p:spPr>
          <a:xfrm>
            <a:off x="2856635" y="1791742"/>
            <a:ext cx="84492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Cloud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562927" y="1715542"/>
            <a:ext cx="84492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</a:t>
            </a:r>
            <a:endParaRPr lang="en-US" sz="1500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E5D15A7E-7AFB-73EE-1227-38F20A208E23}"/>
              </a:ext>
            </a:extLst>
          </p:cNvPr>
          <p:cNvSpPr/>
          <p:nvPr/>
        </p:nvSpPr>
        <p:spPr>
          <a:xfrm>
            <a:off x="2965579" y="2172742"/>
            <a:ext cx="8231406" cy="29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Cognito (User pools)</a:t>
            </a:r>
          </a:p>
          <a:p>
            <a:pPr marL="171450" indent="-171450" algn="l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1" dirty="0">
                <a:latin typeface="Arial" pitchFamily="34" charset="0"/>
                <a:cs typeface="Arial" pitchFamily="34" charset="-120"/>
              </a:rPr>
              <a:t>AppSync (</a:t>
            </a:r>
            <a:r>
              <a:rPr lang="en-US" sz="1050" b="1" dirty="0" err="1">
                <a:latin typeface="Arial" pitchFamily="34" charset="0"/>
                <a:cs typeface="Arial" pitchFamily="34" charset="-120"/>
              </a:rPr>
              <a:t>GraphQL</a:t>
            </a:r>
            <a:r>
              <a:rPr lang="en-US" sz="1050" b="1" dirty="0">
                <a:latin typeface="Arial" pitchFamily="34" charset="0"/>
                <a:cs typeface="Arial" pitchFamily="34" charset="-120"/>
              </a:rPr>
              <a:t>)</a:t>
            </a:r>
          </a:p>
          <a:p>
            <a:pPr marL="171450" indent="-171450" algn="l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1" dirty="0">
                <a:latin typeface="Arial" pitchFamily="34" charset="0"/>
                <a:cs typeface="Arial" pitchFamily="34" charset="-120"/>
              </a:rPr>
              <a:t>S3 (Storage)</a:t>
            </a:r>
          </a:p>
          <a:p>
            <a:pPr marL="171450" indent="-171450" algn="l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1" dirty="0">
                <a:latin typeface="Arial" pitchFamily="34" charset="0"/>
                <a:cs typeface="Arial" pitchFamily="34" charset="-120"/>
              </a:rPr>
              <a:t>Lamda (S3 Trigger) </a:t>
            </a:r>
          </a:p>
          <a:p>
            <a:pPr marL="171450" indent="-171450" algn="l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1" dirty="0">
                <a:latin typeface="Arial" pitchFamily="34" charset="0"/>
                <a:cs typeface="Arial" pitchFamily="34" charset="-120"/>
              </a:rPr>
              <a:t>Node.js</a:t>
            </a:r>
          </a:p>
          <a:p>
            <a:pPr marL="171450" indent="-171450" algn="l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1" dirty="0">
                <a:latin typeface="Arial" pitchFamily="34" charset="0"/>
                <a:cs typeface="Arial" pitchFamily="34" charset="-120"/>
              </a:rPr>
              <a:t>Express</a:t>
            </a:r>
          </a:p>
          <a:p>
            <a:pPr marL="171450" indent="-171450" algn="l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1" dirty="0" err="1">
                <a:latin typeface="Arial" pitchFamily="34" charset="0"/>
                <a:cs typeface="Arial" pitchFamily="34" charset="-120"/>
              </a:rPr>
              <a:t>GraphQL</a:t>
            </a:r>
            <a:r>
              <a:rPr lang="en-US" sz="1050" b="1" dirty="0">
                <a:latin typeface="Arial" pitchFamily="34" charset="0"/>
                <a:cs typeface="Arial" pitchFamily="34" charset="-120"/>
              </a:rPr>
              <a:t> Request</a:t>
            </a: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7B305F05-DE95-5A33-32F1-93D56A115958}"/>
              </a:ext>
            </a:extLst>
          </p:cNvPr>
          <p:cNvSpPr/>
          <p:nvPr/>
        </p:nvSpPr>
        <p:spPr>
          <a:xfrm>
            <a:off x="5671871" y="2020342"/>
            <a:ext cx="8231406" cy="29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Aws-</a:t>
            </a:r>
            <a:r>
              <a:rPr lang="en-US" sz="105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exports.js</a:t>
            </a:r>
            <a:endParaRPr lang="en-US" sz="1050" b="1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171450" indent="-171450" algn="l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1" dirty="0" err="1">
                <a:latin typeface="Arial" pitchFamily="34" charset="0"/>
                <a:cs typeface="Arial" pitchFamily="34" charset="-120"/>
              </a:rPr>
              <a:t>GraphQL</a:t>
            </a:r>
            <a:r>
              <a:rPr lang="en-US" sz="1050" b="1" dirty="0">
                <a:latin typeface="Arial" pitchFamily="34" charset="0"/>
                <a:cs typeface="Arial" pitchFamily="34" charset="-120"/>
              </a:rPr>
              <a:t> Queries/ Mutations</a:t>
            </a:r>
          </a:p>
          <a:p>
            <a:pPr marL="171450" indent="-171450" algn="l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1" dirty="0">
                <a:latin typeface="Arial" pitchFamily="34" charset="0"/>
                <a:cs typeface="Arial" pitchFamily="34" charset="-120"/>
              </a:rPr>
              <a:t>Models/</a:t>
            </a:r>
            <a:r>
              <a:rPr lang="en-US" sz="1050" b="1" dirty="0" err="1">
                <a:latin typeface="Arial" pitchFamily="34" charset="0"/>
                <a:cs typeface="Arial" pitchFamily="34" charset="-120"/>
              </a:rPr>
              <a:t>schema.js</a:t>
            </a:r>
            <a:endParaRPr lang="en-US" sz="1050" b="1" dirty="0">
              <a:latin typeface="Arial" pitchFamily="34" charset="0"/>
              <a:cs typeface="Arial" pitchFamily="34" charset="-120"/>
            </a:endParaRPr>
          </a:p>
          <a:p>
            <a:pPr marL="171450" indent="-171450" algn="l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1" dirty="0" err="1">
                <a:latin typeface="Arial" pitchFamily="34" charset="0"/>
                <a:cs typeface="Arial" pitchFamily="34" charset="-120"/>
              </a:rPr>
              <a:t>permissionsService.js</a:t>
            </a:r>
            <a:endParaRPr lang="en-US" sz="1050" b="1" dirty="0">
              <a:latin typeface="Arial" pitchFamily="34" charset="0"/>
              <a:cs typeface="Arial" pitchFamily="34" charset="-120"/>
            </a:endParaRPr>
          </a:p>
          <a:p>
            <a:pPr marL="171450" indent="-171450" algn="l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1" dirty="0">
                <a:latin typeface="Arial" pitchFamily="34" charset="0"/>
                <a:cs typeface="Arial" pitchFamily="34" charset="-120"/>
              </a:rPr>
              <a:t>VITE * env variables</a:t>
            </a:r>
          </a:p>
          <a:p>
            <a:pPr marL="171450" indent="-171450" algn="l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1" dirty="0" err="1">
                <a:latin typeface="Arial" pitchFamily="34" charset="0"/>
                <a:cs typeface="Arial" pitchFamily="34" charset="-120"/>
              </a:rPr>
              <a:t>Amplify.yml</a:t>
            </a:r>
            <a:endParaRPr lang="en-US" sz="1050" b="1" dirty="0">
              <a:latin typeface="Arial" pitchFamily="34" charset="0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5240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228600" y="645170"/>
            <a:ext cx="8686800" cy="807541"/>
          </a:xfrm>
          <a:prstGeom prst="roundRect">
            <a:avLst>
              <a:gd name="adj" fmla="val 9436"/>
            </a:avLst>
          </a:prstGeom>
          <a:solidFill>
            <a:srgbClr val="F4F6F6"/>
          </a:solidFill>
          <a:ln w="19050">
            <a:solidFill>
              <a:srgbClr val="BDC3C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9030" y="755600"/>
            <a:ext cx="8465939" cy="319980"/>
          </a:xfrm>
          <a:prstGeom prst="roundRect">
            <a:avLst>
              <a:gd name="adj" fmla="val 14288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78699" y="839391"/>
            <a:ext cx="83866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54371" y="1113681"/>
            <a:ext cx="86352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/ Mobile Apps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25396" y="1536502"/>
            <a:ext cx="93208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4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228600" y="1876276"/>
            <a:ext cx="8686800" cy="807541"/>
          </a:xfrm>
          <a:prstGeom prst="roundRect">
            <a:avLst>
              <a:gd name="adj" fmla="val 9436"/>
            </a:avLst>
          </a:prstGeom>
          <a:solidFill>
            <a:srgbClr val="F4F6F6"/>
          </a:solidFill>
          <a:ln w="19050">
            <a:solidFill>
              <a:srgbClr val="BDC3C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9030" y="1986707"/>
            <a:ext cx="8465939" cy="319980"/>
          </a:xfrm>
          <a:prstGeom prst="roundRect">
            <a:avLst>
              <a:gd name="adj" fmla="val 14288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78699" y="2070497"/>
            <a:ext cx="83866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Layer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4371" y="2344787"/>
            <a:ext cx="86352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AppSync (GraphQL)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25396" y="2767608"/>
            <a:ext cx="93208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4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228600" y="3107382"/>
            <a:ext cx="8686800" cy="769441"/>
          </a:xfrm>
          <a:prstGeom prst="roundRect">
            <a:avLst>
              <a:gd name="adj" fmla="val 9903"/>
            </a:avLst>
          </a:prstGeom>
          <a:solidFill>
            <a:srgbClr val="F4F6F6"/>
          </a:solidFill>
          <a:ln w="19050">
            <a:solidFill>
              <a:srgbClr val="BDC3C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9030" y="3217813"/>
            <a:ext cx="8465939" cy="319980"/>
          </a:xfrm>
          <a:prstGeom prst="roundRect">
            <a:avLst>
              <a:gd name="adj" fmla="val 14288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78699" y="3301603"/>
            <a:ext cx="83866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4371" y="3575893"/>
            <a:ext cx="86352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• Cognito • MediaConvert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25396" y="3960614"/>
            <a:ext cx="93208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4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40" dirty="0"/>
          </a:p>
        </p:txBody>
      </p:sp>
      <p:sp>
        <p:nvSpPr>
          <p:cNvPr id="18" name="Text 16"/>
          <p:cNvSpPr/>
          <p:nvPr/>
        </p:nvSpPr>
        <p:spPr>
          <a:xfrm>
            <a:off x="228600" y="4300389"/>
            <a:ext cx="4229100" cy="769441"/>
          </a:xfrm>
          <a:prstGeom prst="roundRect">
            <a:avLst>
              <a:gd name="adj" fmla="val 9903"/>
            </a:avLst>
          </a:prstGeom>
          <a:solidFill>
            <a:srgbClr val="F4F6F6"/>
          </a:solidFill>
          <a:ln w="19050">
            <a:solidFill>
              <a:srgbClr val="BDC3C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39030" y="4410819"/>
            <a:ext cx="4008239" cy="319980"/>
          </a:xfrm>
          <a:prstGeom prst="roundRect">
            <a:avLst>
              <a:gd name="adj" fmla="val 14288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23276" y="4494609"/>
            <a:ext cx="38397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98948" y="4768900"/>
            <a:ext cx="40884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DynamoDB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86300" y="4300389"/>
            <a:ext cx="4229100" cy="769441"/>
          </a:xfrm>
          <a:prstGeom prst="roundRect">
            <a:avLst>
              <a:gd name="adj" fmla="val 9903"/>
            </a:avLst>
          </a:prstGeom>
          <a:solidFill>
            <a:srgbClr val="F4F6F6"/>
          </a:solidFill>
          <a:ln w="19050">
            <a:solidFill>
              <a:srgbClr val="BDC3C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96730" y="4410819"/>
            <a:ext cx="4008239" cy="319980"/>
          </a:xfrm>
          <a:prstGeom prst="roundRect">
            <a:avLst>
              <a:gd name="adj" fmla="val 14288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80976" y="4494609"/>
            <a:ext cx="38397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6648" y="4768900"/>
            <a:ext cx="40884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S3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5240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Creation Workflow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228600" y="873323"/>
            <a:ext cx="4114800" cy="571500"/>
          </a:xfrm>
          <a:prstGeom prst="roundRect">
            <a:avLst>
              <a:gd name="adj" fmla="val 13333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77292" y="1044773"/>
            <a:ext cx="2617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User uploads media via Web App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39396" y="1597223"/>
            <a:ext cx="93208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4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228600" y="2005608"/>
            <a:ext cx="4114800" cy="571500"/>
          </a:xfrm>
          <a:prstGeom prst="roundRect">
            <a:avLst>
              <a:gd name="adj" fmla="val 13333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34906" y="2177058"/>
            <a:ext cx="210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Files stored in Amazon S3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39396" y="2729508"/>
            <a:ext cx="93208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4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228600" y="3137892"/>
            <a:ext cx="4114800" cy="571500"/>
          </a:xfrm>
          <a:prstGeom prst="roundRect">
            <a:avLst>
              <a:gd name="adj" fmla="val 13333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55017" y="3309342"/>
            <a:ext cx="24618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Lambda triggers MediaConvert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39396" y="3861792"/>
            <a:ext cx="93208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4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228600" y="4270177"/>
            <a:ext cx="4114800" cy="571500"/>
          </a:xfrm>
          <a:prstGeom prst="roundRect">
            <a:avLst>
              <a:gd name="adj" fmla="val 13333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85225" y="4441627"/>
            <a:ext cx="240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Metadata saved to DynamoDB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873323"/>
            <a:ext cx="4114800" cy="571500"/>
          </a:xfrm>
          <a:prstGeom prst="roundRect">
            <a:avLst>
              <a:gd name="adj" fmla="val 13333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521968" y="1044773"/>
            <a:ext cx="26719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AppSync notifies via subscription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11396" y="1597223"/>
            <a:ext cx="93208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4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40" dirty="0"/>
          </a:p>
        </p:txBody>
      </p:sp>
      <p:sp>
        <p:nvSpPr>
          <p:cNvPr id="17" name="Text 15"/>
          <p:cNvSpPr/>
          <p:nvPr/>
        </p:nvSpPr>
        <p:spPr>
          <a:xfrm>
            <a:off x="4800600" y="2005608"/>
            <a:ext cx="4114800" cy="571500"/>
          </a:xfrm>
          <a:prstGeom prst="roundRect">
            <a:avLst>
              <a:gd name="adj" fmla="val 13333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690470" y="2177058"/>
            <a:ext cx="2335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Real-time sync to Mobile App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11396" y="2729508"/>
            <a:ext cx="93208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4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40" dirty="0"/>
          </a:p>
        </p:txBody>
      </p:sp>
      <p:sp>
        <p:nvSpPr>
          <p:cNvPr id="20" name="Text 18"/>
          <p:cNvSpPr/>
          <p:nvPr/>
        </p:nvSpPr>
        <p:spPr>
          <a:xfrm>
            <a:off x="4800600" y="3137892"/>
            <a:ext cx="4114800" cy="571500"/>
          </a:xfrm>
          <a:prstGeom prst="roundRect">
            <a:avLst>
              <a:gd name="adj" fmla="val 13333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453808" y="3309342"/>
            <a:ext cx="28082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User accesses story cross-platform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11396" y="3861792"/>
            <a:ext cx="93208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4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40" dirty="0"/>
          </a:p>
        </p:txBody>
      </p:sp>
      <p:sp>
        <p:nvSpPr>
          <p:cNvPr id="23" name="Text 21"/>
          <p:cNvSpPr/>
          <p:nvPr/>
        </p:nvSpPr>
        <p:spPr>
          <a:xfrm>
            <a:off x="4800600" y="4270177"/>
            <a:ext cx="4114800" cy="571500"/>
          </a:xfrm>
          <a:prstGeom prst="roundRect">
            <a:avLst>
              <a:gd name="adj" fmla="val 13333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497678" y="4441627"/>
            <a:ext cx="27206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Push notification sent via Pinpoint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5240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Diagram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228600" y="652016"/>
            <a:ext cx="4114800" cy="2091184"/>
          </a:xfrm>
          <a:prstGeom prst="roundRect">
            <a:avLst>
              <a:gd name="adj" fmla="val 3644"/>
            </a:avLst>
          </a:prstGeom>
          <a:solidFill>
            <a:srgbClr val="FFFFFF"/>
          </a:solidFill>
          <a:ln w="28575">
            <a:solidFill>
              <a:srgbClr val="16A08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0927" y="840581"/>
            <a:ext cx="38901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Application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79065" y="1114871"/>
            <a:ext cx="3813870" cy="472380"/>
          </a:xfrm>
          <a:prstGeom prst="roundRect">
            <a:avLst>
              <a:gd name="adj" fmla="val 9679"/>
            </a:avLst>
          </a:prstGeom>
          <a:solidFill>
            <a:srgbClr val="F4F6F6"/>
          </a:solidFill>
          <a:ln w="19050">
            <a:solidFill>
              <a:srgbClr val="2C3E5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6962" y="1217712"/>
            <a:ext cx="37580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Management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79065" y="1617613"/>
            <a:ext cx="3813870" cy="472380"/>
          </a:xfrm>
          <a:prstGeom prst="roundRect">
            <a:avLst>
              <a:gd name="adj" fmla="val 9679"/>
            </a:avLst>
          </a:prstGeom>
          <a:solidFill>
            <a:srgbClr val="F4F6F6"/>
          </a:solidFill>
          <a:ln w="19050">
            <a:solidFill>
              <a:srgbClr val="2C3E5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6962" y="1720453"/>
            <a:ext cx="37580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Upload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9065" y="2120354"/>
            <a:ext cx="3813870" cy="472380"/>
          </a:xfrm>
          <a:prstGeom prst="roundRect">
            <a:avLst>
              <a:gd name="adj" fmla="val 9679"/>
            </a:avLst>
          </a:prstGeom>
          <a:solidFill>
            <a:srgbClr val="F4F6F6"/>
          </a:solidFill>
          <a:ln w="19050">
            <a:solidFill>
              <a:srgbClr val="2C3E5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6962" y="2223195"/>
            <a:ext cx="37580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Dashboard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00600" y="652016"/>
            <a:ext cx="4114800" cy="2091184"/>
          </a:xfrm>
          <a:prstGeom prst="roundRect">
            <a:avLst>
              <a:gd name="adj" fmla="val 3644"/>
            </a:avLst>
          </a:prstGeom>
          <a:solidFill>
            <a:srgbClr val="FFFFFF"/>
          </a:solidFill>
          <a:ln w="28575">
            <a:solidFill>
              <a:srgbClr val="16A08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12927" y="840581"/>
            <a:ext cx="38901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Application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51065" y="1114871"/>
            <a:ext cx="3813870" cy="472380"/>
          </a:xfrm>
          <a:prstGeom prst="roundRect">
            <a:avLst>
              <a:gd name="adj" fmla="val 9679"/>
            </a:avLst>
          </a:prstGeom>
          <a:solidFill>
            <a:srgbClr val="F4F6F6"/>
          </a:solidFill>
          <a:ln w="19050">
            <a:solidFill>
              <a:srgbClr val="2C3E5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78962" y="1217712"/>
            <a:ext cx="37580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Viewing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51065" y="1617613"/>
            <a:ext cx="3813870" cy="472380"/>
          </a:xfrm>
          <a:prstGeom prst="roundRect">
            <a:avLst>
              <a:gd name="adj" fmla="val 9679"/>
            </a:avLst>
          </a:prstGeom>
          <a:solidFill>
            <a:srgbClr val="F4F6F6"/>
          </a:solidFill>
          <a:ln w="19050">
            <a:solidFill>
              <a:srgbClr val="2C3E5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78962" y="1720453"/>
            <a:ext cx="37580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Capture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51065" y="2120354"/>
            <a:ext cx="3813870" cy="472380"/>
          </a:xfrm>
          <a:prstGeom prst="roundRect">
            <a:avLst>
              <a:gd name="adj" fmla="val 9679"/>
            </a:avLst>
          </a:prstGeom>
          <a:solidFill>
            <a:srgbClr val="F4F6F6"/>
          </a:solidFill>
          <a:ln w="19050">
            <a:solidFill>
              <a:srgbClr val="2C3E5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78962" y="2223195"/>
            <a:ext cx="37580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28600" y="2819400"/>
            <a:ext cx="4114800" cy="2091184"/>
          </a:xfrm>
          <a:prstGeom prst="roundRect">
            <a:avLst>
              <a:gd name="adj" fmla="val 3644"/>
            </a:avLst>
          </a:prstGeom>
          <a:solidFill>
            <a:srgbClr val="FFFFFF"/>
          </a:solidFill>
          <a:ln w="28575">
            <a:solidFill>
              <a:srgbClr val="16A08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40927" y="3007965"/>
            <a:ext cx="38901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9065" y="3282255"/>
            <a:ext cx="3813870" cy="472380"/>
          </a:xfrm>
          <a:prstGeom prst="roundRect">
            <a:avLst>
              <a:gd name="adj" fmla="val 9679"/>
            </a:avLst>
          </a:prstGeom>
          <a:solidFill>
            <a:srgbClr val="F4F6F6"/>
          </a:solidFill>
          <a:ln w="19050">
            <a:solidFill>
              <a:srgbClr val="2C3E5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06962" y="3385096"/>
            <a:ext cx="37580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 Queries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79065" y="3784997"/>
            <a:ext cx="3813870" cy="472380"/>
          </a:xfrm>
          <a:prstGeom prst="roundRect">
            <a:avLst>
              <a:gd name="adj" fmla="val 9679"/>
            </a:avLst>
          </a:prstGeom>
          <a:solidFill>
            <a:srgbClr val="F4F6F6"/>
          </a:solidFill>
          <a:ln w="19050">
            <a:solidFill>
              <a:srgbClr val="2C3E5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06962" y="3887837"/>
            <a:ext cx="37580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 Mutations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79065" y="4287738"/>
            <a:ext cx="3813870" cy="472380"/>
          </a:xfrm>
          <a:prstGeom prst="roundRect">
            <a:avLst>
              <a:gd name="adj" fmla="val 9679"/>
            </a:avLst>
          </a:prstGeom>
          <a:solidFill>
            <a:srgbClr val="F4F6F6"/>
          </a:solidFill>
          <a:ln w="19050">
            <a:solidFill>
              <a:srgbClr val="2C3E5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06962" y="4390579"/>
            <a:ext cx="37580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Subscriptions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800600" y="2819400"/>
            <a:ext cx="4114800" cy="2091184"/>
          </a:xfrm>
          <a:prstGeom prst="roundRect">
            <a:avLst>
              <a:gd name="adj" fmla="val 3644"/>
            </a:avLst>
          </a:prstGeom>
          <a:solidFill>
            <a:srgbClr val="FFFFFF"/>
          </a:solidFill>
          <a:ln w="28575">
            <a:solidFill>
              <a:srgbClr val="16A08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912927" y="3007965"/>
            <a:ext cx="38901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Services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51065" y="3282255"/>
            <a:ext cx="3813870" cy="472380"/>
          </a:xfrm>
          <a:prstGeom prst="roundRect">
            <a:avLst>
              <a:gd name="adj" fmla="val 9679"/>
            </a:avLst>
          </a:prstGeom>
          <a:solidFill>
            <a:srgbClr val="F4F6F6"/>
          </a:solidFill>
          <a:ln w="19050">
            <a:solidFill>
              <a:srgbClr val="2C3E5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978962" y="3385096"/>
            <a:ext cx="37580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Service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951065" y="3784997"/>
            <a:ext cx="3813870" cy="472380"/>
          </a:xfrm>
          <a:prstGeom prst="roundRect">
            <a:avLst>
              <a:gd name="adj" fmla="val 9679"/>
            </a:avLst>
          </a:prstGeom>
          <a:solidFill>
            <a:srgbClr val="F4F6F6"/>
          </a:solidFill>
          <a:ln w="19050">
            <a:solidFill>
              <a:srgbClr val="2C3E5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978962" y="3887837"/>
            <a:ext cx="37580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Service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951065" y="4287738"/>
            <a:ext cx="3813870" cy="472380"/>
          </a:xfrm>
          <a:prstGeom prst="roundRect">
            <a:avLst>
              <a:gd name="adj" fmla="val 9679"/>
            </a:avLst>
          </a:prstGeom>
          <a:solidFill>
            <a:srgbClr val="F4F6F6"/>
          </a:solidFill>
          <a:ln w="19050">
            <a:solidFill>
              <a:srgbClr val="2C3E5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978962" y="4390579"/>
            <a:ext cx="37580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Service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52400"/>
            <a:ext cx="46731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Services Architecture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52400" y="765870"/>
            <a:ext cx="4191000" cy="838200"/>
          </a:xfrm>
          <a:prstGeom prst="roundRect">
            <a:avLst>
              <a:gd name="adj" fmla="val 727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166688" y="765870"/>
            <a:ext cx="0" cy="838200"/>
          </a:xfrm>
          <a:prstGeom prst="line">
            <a:avLst/>
          </a:prstGeom>
          <a:noFill/>
          <a:ln w="28575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33375" y="956370"/>
            <a:ext cx="39347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Amplify</a:t>
            </a: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Backend-as-a-Service for managing cloud resources and deployment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2400" y="1840260"/>
            <a:ext cx="4191000" cy="838200"/>
          </a:xfrm>
          <a:prstGeom prst="roundRect">
            <a:avLst>
              <a:gd name="adj" fmla="val 727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66688" y="1840260"/>
            <a:ext cx="0" cy="838200"/>
          </a:xfrm>
          <a:prstGeom prst="line">
            <a:avLst/>
          </a:prstGeom>
          <a:noFill/>
          <a:ln w="28575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3375" y="2030760"/>
            <a:ext cx="39347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Cognito</a:t>
            </a: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User authentication and identity management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2400" y="2914650"/>
            <a:ext cx="4191000" cy="838200"/>
          </a:xfrm>
          <a:prstGeom prst="roundRect">
            <a:avLst>
              <a:gd name="adj" fmla="val 727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66688" y="2914650"/>
            <a:ext cx="0" cy="838200"/>
          </a:xfrm>
          <a:prstGeom prst="line">
            <a:avLst/>
          </a:prstGeom>
          <a:noFill/>
          <a:ln w="28575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3375" y="3105150"/>
            <a:ext cx="39347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DynamoDB</a:t>
            </a: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NoSQL database for user data and story metadata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2400" y="3989040"/>
            <a:ext cx="4191000" cy="838200"/>
          </a:xfrm>
          <a:prstGeom prst="roundRect">
            <a:avLst>
              <a:gd name="adj" fmla="val 727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166688" y="3989040"/>
            <a:ext cx="0" cy="838200"/>
          </a:xfrm>
          <a:prstGeom prst="line">
            <a:avLst/>
          </a:prstGeom>
          <a:noFill/>
          <a:ln w="28575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3375" y="4179540"/>
            <a:ext cx="39347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S3</a:t>
            </a: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File storage for media uploads (images, videos, documents)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765870"/>
            <a:ext cx="4191000" cy="838200"/>
          </a:xfrm>
          <a:prstGeom prst="roundRect">
            <a:avLst>
              <a:gd name="adj" fmla="val 727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814888" y="765870"/>
            <a:ext cx="0" cy="838200"/>
          </a:xfrm>
          <a:prstGeom prst="line">
            <a:avLst/>
          </a:prstGeom>
          <a:noFill/>
          <a:ln w="28575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81575" y="956370"/>
            <a:ext cx="39347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Lambda</a:t>
            </a: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Serverless functions for backend processing and triggers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1840260"/>
            <a:ext cx="4191000" cy="838200"/>
          </a:xfrm>
          <a:prstGeom prst="roundRect">
            <a:avLst>
              <a:gd name="adj" fmla="val 727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814888" y="1840260"/>
            <a:ext cx="0" cy="838200"/>
          </a:xfrm>
          <a:prstGeom prst="line">
            <a:avLst/>
          </a:prstGeom>
          <a:noFill/>
          <a:ln w="28575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81575" y="2030760"/>
            <a:ext cx="39347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AppSync</a:t>
            </a: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GraphQL API for real-time data queries and subscriptions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2914650"/>
            <a:ext cx="4191000" cy="838200"/>
          </a:xfrm>
          <a:prstGeom prst="roundRect">
            <a:avLst>
              <a:gd name="adj" fmla="val 727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814888" y="2914650"/>
            <a:ext cx="0" cy="838200"/>
          </a:xfrm>
          <a:prstGeom prst="line">
            <a:avLst/>
          </a:prstGeom>
          <a:noFill/>
          <a:ln w="28575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81575" y="3105150"/>
            <a:ext cx="39347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MediaConvert</a:t>
            </a: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Video processing and format conversion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3989040"/>
            <a:ext cx="4191000" cy="838200"/>
          </a:xfrm>
          <a:prstGeom prst="roundRect">
            <a:avLst>
              <a:gd name="adj" fmla="val 727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814888" y="3989040"/>
            <a:ext cx="0" cy="838200"/>
          </a:xfrm>
          <a:prstGeom prst="line">
            <a:avLst/>
          </a:prstGeom>
          <a:noFill/>
          <a:ln w="28575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81575" y="4179540"/>
            <a:ext cx="39347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Pinpoint</a:t>
            </a: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Push notifications and user engagement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914400"/>
            <a:ext cx="46731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Constraints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04800" y="2133600"/>
            <a:ext cx="8534400" cy="17526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Integration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Must align with existing AWS infrastructure (Amplify, Cognito, AppSync, DynamoDB, S3, Lambda)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 Compatibility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All data interactions via AppSync for consistency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Amazon Cognito for unified user sessions across platforms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Handling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Follow existing S3 storage and MediaConvert processing pipelines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Schema Alignment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Operate within current DynamoDB and GraphQL schemas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" y="857250"/>
            <a:ext cx="46731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Must-Have Features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52400" y="1733550"/>
            <a:ext cx="2607766" cy="25527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Authentication via Amazon Cognito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Create, Edit &amp; Organize Stories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Sync with Mobile App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Media from External Sources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and Manage Existing Stories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217366" y="2438400"/>
            <a:ext cx="5774234" cy="1143000"/>
          </a:xfrm>
          <a:prstGeom prst="roundRect">
            <a:avLst>
              <a:gd name="adj" fmla="val 6667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45966" y="2667000"/>
            <a:ext cx="54233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Scope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445966" y="3086100"/>
            <a:ext cx="54233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features for MVP launch ensuring integration with existing ecosystem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51966"/>
            <a:ext cx="52172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Nice-to-Have Enhancements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04800" y="1006376"/>
            <a:ext cx="8534400" cy="708422"/>
          </a:xfrm>
          <a:prstGeom prst="roundRect">
            <a:avLst>
              <a:gd name="adj" fmla="val 10756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23850" y="1006376"/>
            <a:ext cx="0" cy="708422"/>
          </a:xfrm>
          <a:prstGeom prst="line">
            <a:avLst/>
          </a:prstGeom>
          <a:noFill/>
          <a:ln w="38100">
            <a:solidFill>
              <a:srgbClr val="FF6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5661" y="1227237"/>
            <a:ext cx="82933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Drag-and-Drop Story Builder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Visual interface for intuitive content rearrangement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04800" y="2065288"/>
            <a:ext cx="8534400" cy="708422"/>
          </a:xfrm>
          <a:prstGeom prst="roundRect">
            <a:avLst>
              <a:gd name="adj" fmla="val 10756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23850" y="2065288"/>
            <a:ext cx="0" cy="708422"/>
          </a:xfrm>
          <a:prstGeom prst="line">
            <a:avLst/>
          </a:prstGeom>
          <a:noFill/>
          <a:ln w="38100">
            <a:solidFill>
              <a:srgbClr val="FF6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5661" y="2286149"/>
            <a:ext cx="82933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Media Tagging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Custom tags and descriptions for improved organization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04800" y="3124200"/>
            <a:ext cx="8534400" cy="708422"/>
          </a:xfrm>
          <a:prstGeom prst="roundRect">
            <a:avLst>
              <a:gd name="adj" fmla="val 10756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3850" y="3124200"/>
            <a:ext cx="0" cy="708422"/>
          </a:xfrm>
          <a:prstGeom prst="line">
            <a:avLst/>
          </a:prstGeom>
          <a:noFill/>
          <a:ln w="38100">
            <a:solidFill>
              <a:srgbClr val="FF6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5661" y="3345061"/>
            <a:ext cx="82933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Preview and Playback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In-browser preview before saving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04800" y="4183112"/>
            <a:ext cx="8534400" cy="708422"/>
          </a:xfrm>
          <a:prstGeom prst="roundRect">
            <a:avLst>
              <a:gd name="adj" fmla="val 10756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3850" y="4183112"/>
            <a:ext cx="0" cy="708422"/>
          </a:xfrm>
          <a:prstGeom prst="line">
            <a:avLst/>
          </a:prstGeom>
          <a:noFill/>
          <a:ln w="38100">
            <a:solidFill>
              <a:srgbClr val="FF6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25661" y="4403973"/>
            <a:ext cx="82933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Autosave &amp; Version History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Automatic drafts with rollback capability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" y="644128"/>
            <a:ext cx="46731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3+: Future Expansion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52400" y="1691878"/>
            <a:ext cx="4191000" cy="1203722"/>
          </a:xfrm>
          <a:prstGeom prst="roundRect">
            <a:avLst>
              <a:gd name="adj" fmla="val 633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5161" y="1874639"/>
            <a:ext cx="39019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 Features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35161" y="2217539"/>
            <a:ext cx="39019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 others to co-create or contribute to stories with permission settings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2400" y="3124200"/>
            <a:ext cx="4191000" cy="1203722"/>
          </a:xfrm>
          <a:prstGeom prst="roundRect">
            <a:avLst>
              <a:gd name="adj" fmla="val 633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35161" y="3306961"/>
            <a:ext cx="39019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Export &amp; Sharing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35161" y="3649861"/>
            <a:ext cx="39019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shareable formats (PDF, video montage, web link) for select stories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0600" y="1691878"/>
            <a:ext cx="4191000" cy="1203722"/>
          </a:xfrm>
          <a:prstGeom prst="roundRect">
            <a:avLst>
              <a:gd name="adj" fmla="val 633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83361" y="1874639"/>
            <a:ext cx="39019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AI-Guided Story Builder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361" y="2217539"/>
            <a:ext cx="39019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 prompts and structures using natural language processing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3124200"/>
            <a:ext cx="4191000" cy="1203722"/>
          </a:xfrm>
          <a:prstGeom prst="roundRect">
            <a:avLst>
              <a:gd name="adj" fmla="val 633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83361" y="3306961"/>
            <a:ext cx="39019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Dashboard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83361" y="3649861"/>
            <a:ext cx="39019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on storytelling activity, content types, and media usage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8994" y="516385"/>
            <a:ext cx="46731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00976" y="1962150"/>
            <a:ext cx="1866900" cy="2095500"/>
          </a:xfrm>
          <a:prstGeom prst="roundRect">
            <a:avLst>
              <a:gd name="adj" fmla="val 408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16132" y="2190750"/>
            <a:ext cx="436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75370" y="2686050"/>
            <a:ext cx="9179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15479" y="3105150"/>
            <a:ext cx="14378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story creation with streamlined workflows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74157" y="1847850"/>
            <a:ext cx="1866900" cy="2324100"/>
          </a:xfrm>
          <a:prstGeom prst="roundRect">
            <a:avLst>
              <a:gd name="adj" fmla="val 408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289313" y="2076450"/>
            <a:ext cx="436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2913445" y="2571750"/>
            <a:ext cx="1188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88660" y="2990850"/>
            <a:ext cx="14378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syncing for seamless experience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962150"/>
            <a:ext cx="1866900" cy="2095500"/>
          </a:xfrm>
          <a:prstGeom prst="roundRect">
            <a:avLst>
              <a:gd name="adj" fmla="val 408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515756" y="2190750"/>
            <a:ext cx="436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📂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5285923" y="2686050"/>
            <a:ext cx="8962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Flexibility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15103" y="3105150"/>
            <a:ext cx="14378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media sources expand storytelling options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56024" y="1962150"/>
            <a:ext cx="1866900" cy="2095500"/>
          </a:xfrm>
          <a:prstGeom prst="roundRect">
            <a:avLst>
              <a:gd name="adj" fmla="val 408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671180" y="2190750"/>
            <a:ext cx="436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7295616" y="2686050"/>
            <a:ext cx="11875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170527" y="3105150"/>
            <a:ext cx="14378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tools for managing content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90955" y="1400528"/>
            <a:ext cx="61620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2400"/>
              </a:spcAft>
              <a:buNone/>
            </a:pPr>
            <a:r>
              <a:rPr lang="en-US" sz="3600" b="1" dirty="0" err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topsolves.com</a:t>
            </a:r>
            <a:endParaRPr lang="en-US" sz="3600" b="1" dirty="0">
              <a:solidFill>
                <a:srgbClr val="16A08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lnSpc>
                <a:spcPts val="3600"/>
              </a:lnSpc>
              <a:spcAft>
                <a:spcPts val="2400"/>
              </a:spcAft>
              <a:buNone/>
            </a:pPr>
            <a:r>
              <a:rPr lang="en-US" b="1" dirty="0">
                <a:solidFill>
                  <a:srgbClr val="16A085"/>
                </a:solidFill>
                <a:latin typeface="Arial" pitchFamily="34" charset="0"/>
                <a:cs typeface="Arial" pitchFamily="34" charset="-120"/>
              </a:rPr>
              <a:t>This project will not be closed until it complete.</a:t>
            </a:r>
            <a:endParaRPr lang="en-US" dirty="0"/>
          </a:p>
        </p:txBody>
      </p:sp>
      <p:pic>
        <p:nvPicPr>
          <p:cNvPr id="3" name="Image 0" descr="/tmp/rasterized-gradient-187b08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250" y="2910416"/>
            <a:ext cx="28575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BA07BD-B3B7-D818-3D29-1D2D799BE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2D1AC3D-314C-B2A3-AE4F-4DE756559A60}"/>
              </a:ext>
            </a:extLst>
          </p:cNvPr>
          <p:cNvSpPr/>
          <p:nvPr/>
        </p:nvSpPr>
        <p:spPr>
          <a:xfrm>
            <a:off x="3401587" y="1276350"/>
            <a:ext cx="2340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2400"/>
              </a:spcAft>
              <a:buNone/>
            </a:pPr>
            <a:r>
              <a:rPr lang="en-US" sz="36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pic>
        <p:nvPicPr>
          <p:cNvPr id="3" name="Image 0" descr="/tmp/rasterized-gradient-187b08be.png">
            <a:extLst>
              <a:ext uri="{FF2B5EF4-FFF2-40B4-BE49-F238E27FC236}">
                <a16:creationId xmlns:a16="http://schemas.microsoft.com/office/drawing/2014/main" id="{4DB8EFF6-1A6D-A94A-AB3F-408434613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250" y="2266950"/>
            <a:ext cx="2857500" cy="7620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F1EB8512-ABA1-588C-B783-E4EA1AE22CC0}"/>
              </a:ext>
            </a:extLst>
          </p:cNvPr>
          <p:cNvSpPr/>
          <p:nvPr/>
        </p:nvSpPr>
        <p:spPr>
          <a:xfrm>
            <a:off x="3143250" y="3067049"/>
            <a:ext cx="2755559" cy="800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Mage Team:</a:t>
            </a:r>
            <a:b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Basanta Rana Magar</a:t>
            </a:r>
          </a:p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cs typeface="Arial" pitchFamily="34" charset="-120"/>
              </a:rPr>
              <a:t>Aastha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44743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3546</TotalTime>
  <Words>745</Words>
  <Application>Microsoft Macintosh PowerPoint</Application>
  <PresentationFormat>On-screen Show (16:9)</PresentationFormat>
  <Paragraphs>165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 Moment With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AMW Web App Development</dc:title>
  <dc:subject>Project Proposal</dc:subject>
  <dc:creator>A Moment With</dc:creator>
  <cp:lastModifiedBy>BASANTA RANA MAGAR</cp:lastModifiedBy>
  <cp:revision>3</cp:revision>
  <dcterms:created xsi:type="dcterms:W3CDTF">2025-11-02T21:39:02Z</dcterms:created>
  <dcterms:modified xsi:type="dcterms:W3CDTF">2025-11-08T13:52:52Z</dcterms:modified>
</cp:coreProperties>
</file>